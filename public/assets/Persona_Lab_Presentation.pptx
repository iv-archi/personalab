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Inter"/>
              </a:defRPr>
            </a:pPr>
            <a:r>
              <a:t>AI-POWERED EDUCATIONAL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Outfit"/>
              </a:defRPr>
            </a:pPr>
            <a:r>
              <a:t>PERSONA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>
                <a:solidFill>
                  <a:srgbClr val="A3A3A3"/>
                </a:solidFill>
                <a:latin typeface="Inter"/>
              </a:defRPr>
            </a:pPr>
            <a:r>
              <a:t>AI that helps students learn, not copy.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97680"/>
            <a:ext cx="3200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A3A3A3"/>
                </a:solidFill>
                <a:latin typeface="Inter"/>
              </a:defRPr>
            </a:pPr>
            <a:r>
              <a:t>Kazakhstan HDSE Leadership Intensive Final Presentation</a:t>
            </a:r>
            <a:br/>
            <a:r>
              <a:t>Lehigh University x Unisinos x Persona Lab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THE MACRO PROBLEM: THE CHEATING EPIDEMIC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754880" cy="16459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EF4444"/>
                </a:solidFill>
                <a:latin typeface="Outfit"/>
              </a:defRPr>
            </a:pPr>
            <a:r>
              <a:t>82%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of high school students admit to copy-pasting homework answers directly from standard AI chatbots.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4754880" cy="16459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Outfit"/>
              </a:defRPr>
            </a:pPr>
            <a:r>
              <a:t>$30 - $80 / hr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cost of private human tutoring, making quality, personalized guidance completely inaccessible to rural/low-income families.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</a:pPr>
            <a:r>
              <a:rPr b="1" sz="1400">
                <a:solidFill>
                  <a:srgbClr val="14B8A6"/>
                </a:solidFill>
                <a:latin typeface="Inter"/>
              </a:rPr>
              <a:t>• Learning Regression:</a:t>
            </a:r>
            <a:r>
              <a:rPr sz="1400">
                <a:solidFill>
                  <a:srgbClr val="A3A3A3"/>
                </a:solidFill>
                <a:latin typeface="Inter"/>
              </a:rPr>
              <a:t> Students skip the essential cognitive friction of solving math problems, leading to long-term decline in analytical skills.</a:t>
            </a:r>
          </a:p>
          <a:p>
            <a:pPr>
              <a:spcAft>
                <a:spcPts val="2000"/>
              </a:spcAft>
            </a:pPr>
            <a:r>
              <a:rPr b="1" sz="1400">
                <a:solidFill>
                  <a:srgbClr val="14B8A6"/>
                </a:solidFill>
                <a:latin typeface="Inter"/>
              </a:rPr>
              <a:t>• Academic Inflation:</a:t>
            </a:r>
            <a:r>
              <a:rPr sz="1400">
                <a:solidFill>
                  <a:srgbClr val="A3A3A3"/>
                </a:solidFill>
                <a:latin typeface="Inter"/>
              </a:rPr>
              <a:t> High grades on homework checks no longer reflect actual comprehension, masking critical learning gaps.</a:t>
            </a:r>
          </a:p>
          <a:p>
            <a:pPr>
              <a:spcAft>
                <a:spcPts val="2000"/>
              </a:spcAft>
            </a:pPr>
            <a:r>
              <a:rPr b="1" sz="1400">
                <a:solidFill>
                  <a:srgbClr val="14B8A6"/>
                </a:solidFill>
                <a:latin typeface="Inter"/>
              </a:rPr>
              <a:t>• Systemic Inequality:</a:t>
            </a:r>
            <a:r>
              <a:rPr sz="1400">
                <a:solidFill>
                  <a:srgbClr val="A3A3A3"/>
                </a:solidFill>
                <a:latin typeface="Inter"/>
              </a:rPr>
              <a:t> Rural schools struggle with a lack of subject-matter teachers, leaving students without personalized support to bridge these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THE MICRO PROBLEM: THE INDIVIDUAL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75488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Temirlan, 14 years old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Student at a public high school in Almaty. Struggles with algebra. Parents cannot afford private tutoring and work long hours.</a:t>
            </a:r>
          </a:p>
          <a:p>
            <a:pPr>
              <a:defRPr sz="1200" i="1">
                <a:solidFill>
                  <a:srgbClr val="A3A3A3"/>
                </a:solidFill>
                <a:latin typeface="Inter"/>
              </a:defRPr>
            </a:pPr>
            <a:r>
              <a:t>"When I get stuck on homework, I just send a photo of the math sheet to ChatGPT. It gives me the final steps and answer. I copy it. I pass the homework, but in the final exam, I freeze because I don't actually know what I'm doing."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Outfit"/>
              </a:defRPr>
            </a:pPr>
            <a:r>
              <a:t>The Copy-Paste Feedback Loop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F4444"/>
                </a:solidFill>
                <a:latin typeface="Inter"/>
              </a:rPr>
              <a:t>1. Cognitive Block:</a:t>
            </a:r>
            <a:r>
              <a:rPr sz="1300">
                <a:solidFill>
                  <a:srgbClr val="A3A3A3"/>
                </a:solidFill>
                <a:latin typeface="Inter"/>
              </a:rPr>
              <a:t> Student gets stuck on a complex formula and has no personalized guidance available.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F4444"/>
                </a:solidFill>
                <a:latin typeface="Inter"/>
              </a:rPr>
              <a:t>2. Easy Escape:</a:t>
            </a:r>
            <a:r>
              <a:rPr sz="1300">
                <a:solidFill>
                  <a:srgbClr val="A3A3A3"/>
                </a:solidFill>
                <a:latin typeface="Inter"/>
              </a:rPr>
              <a:t> Submits the prompt to generic AI, obtaining a pre-fabricated complete solution.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F4444"/>
                </a:solidFill>
                <a:latin typeface="Inter"/>
              </a:rPr>
              <a:t>3. Grade Illusion:</a:t>
            </a:r>
            <a:r>
              <a:rPr sz="1300">
                <a:solidFill>
                  <a:srgbClr val="A3A3A3"/>
                </a:solidFill>
                <a:latin typeface="Inter"/>
              </a:rPr>
              <a:t> Receives top marks from teacher for copied homework, masking learning deficits.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F4444"/>
                </a:solidFill>
                <a:latin typeface="Inter"/>
              </a:rPr>
              <a:t>4. Exam Collapse:</a:t>
            </a:r>
            <a:r>
              <a:rPr sz="1300">
                <a:solidFill>
                  <a:srgbClr val="A3A3A3"/>
                </a:solidFill>
                <a:latin typeface="Inter"/>
              </a:rPr>
              <a:t> Fails standard test under exam conditions, causing anxiety, shame, and loss of learning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OUR APPROACH: PERSONA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01</a:t>
            </a:r>
            <a:br/>
            <a:r>
              <a:t>Step-by-Step</a:t>
            </a:r>
            <a:br/>
            <a:r>
              <a:t>Explanations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Instead of giving a block of text or final answer, our system breaks down formulas, historical timelines, or scientific logic into small, interactive micro-stages, validating student input at each milestone.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02</a:t>
            </a:r>
            <a:br/>
            <a:r>
              <a:t>Pedagogical</a:t>
            </a:r>
            <a:br/>
            <a:r>
              <a:t>Guardrails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Built-in anti-cheat mode. When students ask to write essay drafts or math sheets, Persona Lab refuses, offering structured prompts, hints, outline check questions, and corrective feedback 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00400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03</a:t>
            </a:r>
            <a:br/>
            <a:r>
              <a:t>Localized</a:t>
            </a:r>
            <a:br/>
            <a:r>
              <a:t>Intelligence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Complete system support in Kazakh, Russian, and English. The AI adapts complex topics to local curricula terminology, ensuring rural Kazakh-speaking students receive same quality instruction as private schools.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THE LARGER CONTEXT: INTEGRATED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Outfit"/>
              </a:defRPr>
            </a:pPr>
            <a:r>
              <a:t>STUDENTS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Interactive AI tutor with active guardrails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Adaptive practice quizzes matching skill level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Visual progress charts &amp; streaks for daily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Outfit"/>
              </a:defRPr>
            </a:pPr>
            <a:r>
              <a:t>TEACHERS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Classroom dashboard compiling learning analytics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Automated reports highlighting specific weak topics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AI worksheet generator to match class bottlenecks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Ethical disclosures for classroom homework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004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Outfit"/>
              </a:defRPr>
            </a:pPr>
            <a:r>
              <a:t>PARENTS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Simplified weekly progress notifications (SMS/web)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Highlighting child's consistency and study streaks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• Concrete recommendations on how to assist child's study at home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VALIDATION AND PILOT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75488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206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LITERATURE VALIDATION</a:t>
            </a:r>
          </a:p>
          <a:p>
            <a:pPr>
              <a:defRPr b="1" sz="1200">
                <a:solidFill>
                  <a:srgbClr val="FFFFFF"/>
                </a:solidFill>
                <a:latin typeface="Inter"/>
              </a:defRPr>
            </a:pPr>
            <a:r>
              <a:t>• Active Recall &amp; Scaffolding:</a:t>
            </a:r>
          </a:p>
          <a:p>
            <a:pPr>
              <a:spcAft>
                <a:spcPts val="1400"/>
              </a:spcAft>
              <a:defRPr sz="1100">
                <a:solidFill>
                  <a:srgbClr val="A3A3A3"/>
                </a:solidFill>
                <a:latin typeface="Inter"/>
              </a:defRPr>
            </a:pPr>
            <a:r>
              <a:t>Cognitive studies prove that interactive step-by-step guidance increases knowledge retention by up to 40% compared to passive textbook reading.</a:t>
            </a:r>
          </a:p>
          <a:p>
            <a:pPr>
              <a:defRPr b="1" sz="1200">
                <a:solidFill>
                  <a:srgbClr val="FFFFFF"/>
                </a:solidFill>
                <a:latin typeface="Inter"/>
              </a:defRPr>
            </a:pPr>
            <a:r>
              <a:t>• Accountability &amp; Gamification:</a:t>
            </a:r>
          </a:p>
          <a:p>
            <a:pPr>
              <a:defRPr sz="1100">
                <a:solidFill>
                  <a:srgbClr val="A3A3A3"/>
                </a:solidFill>
                <a:latin typeface="Inter"/>
              </a:defRPr>
            </a:pPr>
            <a:r>
              <a:t>Streaks and peer-reviewed dashboards reduce learning dropouts by 28% in teenage brackets.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480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PROTOTYPE PILOT RESULTS (4 WEEKS)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22C55E"/>
                </a:solidFill>
                <a:latin typeface="Outfit"/>
              </a:rPr>
              <a:t>+18%  </a:t>
            </a:r>
            <a:r>
              <a:rPr sz="1200">
                <a:solidFill>
                  <a:srgbClr val="FFFFFF"/>
                </a:solidFill>
                <a:latin typeface="Inter"/>
              </a:rPr>
              <a:t>Average improvement in math test scores among pilot students.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22C55E"/>
                </a:solidFill>
                <a:latin typeface="Outfit"/>
              </a:rPr>
              <a:t>92%  </a:t>
            </a:r>
            <a:r>
              <a:rPr sz="1200">
                <a:solidFill>
                  <a:srgbClr val="FFFFFF"/>
                </a:solidFill>
                <a:latin typeface="Inter"/>
              </a:rPr>
              <a:t>of pilot teachers reported a measurable drop in homework copy-pasting.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22C55E"/>
                </a:solidFill>
                <a:latin typeface="Outfit"/>
              </a:rPr>
              <a:t>87%  </a:t>
            </a:r>
            <a:r>
              <a:rPr sz="1200">
                <a:solidFill>
                  <a:srgbClr val="FFFFFF"/>
                </a:solidFill>
                <a:latin typeface="Inter"/>
              </a:rPr>
              <a:t>of students expressed increased confidence in independent problem-solving.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STAKEHOLDER SUCCESS METRICS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2C55E"/>
                </a:solidFill>
                <a:latin typeface="Outfit"/>
              </a:defRPr>
            </a:pPr>
            <a:r>
              <a:t>STUDENTS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Success Metrics: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Mastery of concepts, XP benchmarks, study streak retention.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Return on Investment:</a:t>
            </a:r>
          </a:p>
          <a:p>
            <a:pPr>
              <a:defRPr sz="1100">
                <a:solidFill>
                  <a:srgbClr val="A3A3A3"/>
                </a:solidFill>
                <a:latin typeface="Inter"/>
              </a:defRPr>
            </a:pPr>
            <a:r>
              <a:t>Increased grades &amp; learning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4B8A6"/>
                </a:solidFill>
                <a:latin typeface="Outfit"/>
              </a:defRPr>
            </a:pPr>
            <a:r>
              <a:t>TEACHERS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Success Metrics: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Time saved grading homework, dashboard engagement.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Return on Investment:</a:t>
            </a:r>
          </a:p>
          <a:p>
            <a:pPr>
              <a:defRPr sz="1100">
                <a:solidFill>
                  <a:srgbClr val="A3A3A3"/>
                </a:solidFill>
                <a:latin typeface="Inter"/>
              </a:defRPr>
            </a:pPr>
            <a:r>
              <a:t>50% time saved, clear visibility on student weak 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A3A3A3"/>
                </a:solidFill>
                <a:latin typeface="Outfit"/>
              </a:defRPr>
            </a:pPr>
            <a:r>
              <a:t>PARENTS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Success Metrics: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Streak checks, platform interaction frequency.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Return on Investment:</a:t>
            </a:r>
          </a:p>
          <a:p>
            <a:pPr>
              <a:defRPr sz="1100">
                <a:solidFill>
                  <a:srgbClr val="A3A3A3"/>
                </a:solidFill>
                <a:latin typeface="Inter"/>
              </a:defRPr>
            </a:pPr>
            <a:r>
              <a:t>Quality tutoring at a fraction of private tutoring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  <a:latin typeface="Outfit"/>
              </a:defRPr>
            </a:pPr>
            <a:r>
              <a:t>SCHOOLS &amp; ADMIN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Success Metrics: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  <a:latin typeface="Inter"/>
              </a:defRPr>
            </a:pPr>
            <a:r>
              <a:t>Class curriculum coverage, test score comparisons.</a:t>
            </a:r>
          </a:p>
          <a:p>
            <a:pPr>
              <a:defRPr b="1" sz="1100">
                <a:solidFill>
                  <a:srgbClr val="14B8A6"/>
                </a:solidFill>
                <a:latin typeface="Inter"/>
              </a:defRPr>
            </a:pPr>
            <a:r>
              <a:t>Return on Investment:</a:t>
            </a:r>
          </a:p>
          <a:p>
            <a:pPr>
              <a:defRPr sz="1100">
                <a:solidFill>
                  <a:srgbClr val="A3A3A3"/>
                </a:solidFill>
                <a:latin typeface="Inter"/>
              </a:defRPr>
            </a:pPr>
            <a:r>
              <a:t>Accreditation rankings, overall institutional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BUSINESS AND SUSTAINABILITY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Outfit"/>
              </a:defRPr>
            </a:pPr>
            <a:r>
              <a:t>B2C FREEMIUM</a:t>
            </a:r>
          </a:p>
          <a:p>
            <a:pPr>
              <a:defRPr sz="1100">
                <a:solidFill>
                  <a:srgbClr val="FFFFFF"/>
                </a:solidFill>
                <a:latin typeface="Inter"/>
              </a:defRPr>
            </a:pPr>
            <a:r>
              <a:t>• Free Tier: Core AI Tutor interactions, standard practice quizzes, basic dashboard access.</a:t>
            </a:r>
            <a:br/>
            <a:br/>
            <a:r>
              <a:t>• Premium Tier ($4.99/mo): Unlimited advanced tutoring sessions, custom exam study plans, detailed performance analytics, and printable summary worksheets.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Outfit"/>
              </a:defRPr>
            </a:pPr>
            <a:r>
              <a:t>B2B SCHOOL SAAS</a:t>
            </a:r>
          </a:p>
          <a:p>
            <a:pPr>
              <a:defRPr sz="1100">
                <a:solidFill>
                  <a:srgbClr val="FFFFFF"/>
                </a:solidFill>
                <a:latin typeface="Inter"/>
              </a:defRPr>
            </a:pPr>
            <a:r>
              <a:t>• Price: $1.50 per student/year (paid by school or district).</a:t>
            </a:r>
            <a:br/>
            <a:br/>
            <a:r>
              <a:t>• Features: Full teacher dashboards, automatic class assignment generators, detailed group weakness diagnostics, and integration with local educational management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004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Outfit"/>
              </a:defRPr>
            </a:pPr>
            <a:r>
              <a:t>B2G SOCIAL EQUITY</a:t>
            </a:r>
          </a:p>
          <a:p>
            <a:pPr>
              <a:defRPr sz="1100">
                <a:solidFill>
                  <a:srgbClr val="FFFFFF"/>
                </a:solidFill>
                <a:latin typeface="Inter"/>
              </a:defRPr>
            </a:pPr>
            <a:r>
              <a:t>• Funding: Funded via regional educational development grants &amp; state equity initiatives.</a:t>
            </a:r>
            <a:br/>
            <a:br/>
            <a:r>
              <a:t>• Focus: Subsidized licensing for rural schools lacking specialized STEM/language educators, bridging the geographic educational divide.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GO-TO-MARKET &amp; GROWTH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4B8A6"/>
                </a:solidFill>
                <a:latin typeface="Outfit"/>
              </a:defRPr>
            </a:pPr>
            <a:r>
              <a:t>Phase 01</a:t>
            </a:r>
            <a:br/>
            <a:r>
              <a:t>PILOT (Months 1-3)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Implement local school testing in Almaty with 10 pilot classes. Gather performance analytics and validate UI gamification.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  <a:latin typeface="Outfit"/>
              </a:defRPr>
            </a:pPr>
            <a:r>
              <a:t>Phase 02</a:t>
            </a:r>
            <a:br/>
            <a:r>
              <a:t>ENGAGE (Months 4-6)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Introduce teacher dashboards and parent progress portals. Expand coverage to include chemistry and physics.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A3A3A3"/>
                </a:solidFill>
                <a:latin typeface="Outfit"/>
              </a:defRPr>
            </a:pPr>
            <a:r>
              <a:t>Phase 03</a:t>
            </a:r>
            <a:br/>
            <a:r>
              <a:t>PARTNER (Months 7-10)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Secure commercial B2B contracts with private school networks. Integrate local language curricula (Kazakh/Russian).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2C55E"/>
                </a:solidFill>
                <a:latin typeface="Outfit"/>
              </a:defRPr>
            </a:pPr>
            <a:r>
              <a:t>Phase 04</a:t>
            </a:r>
            <a:br/>
            <a:r>
              <a:t>EXPAND (Months 11-15)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Partner with the Ministry of Education to license the platform for rural educational equity grants.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Outfit"/>
              </a:defRPr>
            </a:pPr>
            <a:r>
              <a:t>THE EXECUTION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828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Product &amp; AI Architect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Responsible for core LLM routing, Next.js full-stack system layout, and AI tutor prompt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Lead Curriculum Specialist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Ensures all practice tasks and AI responses comply with state learning standards and active recall mechanics.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Lead UI/UX Designer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Designed the dark-mode aesthetic, gamification elements (XP system), and user dashboard interfaces.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11680"/>
            <a:ext cx="237744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94560"/>
            <a:ext cx="2011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4B8A6"/>
                </a:solidFill>
                <a:latin typeface="Outfit"/>
              </a:defRPr>
            </a:pPr>
            <a:r>
              <a:t>Director of Outreach</a:t>
            </a:r>
          </a:p>
          <a:p>
            <a:pPr>
              <a:lnSpc>
                <a:spcPct val="120000"/>
              </a:lnSpc>
              <a:defRPr sz="1100">
                <a:solidFill>
                  <a:srgbClr val="FFFFFF"/>
                </a:solidFill>
                <a:latin typeface="Inter"/>
              </a:defRPr>
            </a:pPr>
            <a:r>
              <a:t>Manages relationships with school administrations, parent groups, and regional education ministries.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4B8A6"/>
                </a:solidFill>
                <a:latin typeface="Inter"/>
              </a:defRPr>
            </a:pPr>
            <a:r>
              <a:t>JOIN PERSONA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Outfit"/>
              </a:defRPr>
            </a:pPr>
            <a:r>
              <a:t>"Education is not the filling of a pail,</a:t>
            </a:r>
            <a:br/>
            <a:r>
              <a:t>but the lighting of a fire."</a:t>
            </a:r>
          </a:p>
          <a:p>
            <a:pPr>
              <a:defRPr sz="1600">
                <a:solidFill>
                  <a:srgbClr val="A3A3A3"/>
                </a:solidFill>
                <a:latin typeface="Inter"/>
              </a:defRPr>
            </a:pPr>
            <a:r>
              <a:t>Help us build a future where AI empowers students to think, understand, and thrive independently.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4114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  <a:latin typeface="Inter"/>
              </a:defRPr>
            </a:pPr>
            <a:r>
              <a:t>Try the Live Platform: https://aipersonalab.netlify.app/</a:t>
            </a:r>
            <a:br/>
            <a:r>
              <a:t>Get in Touch: contact@personalab.edu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